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>
      <p:cViewPr>
        <p:scale>
          <a:sx n="54" d="100"/>
          <a:sy n="54" d="100"/>
        </p:scale>
        <p:origin x="11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F90F-6492-4030-9D7F-EA456862A47B}" type="datetimeFigureOut">
              <a:rPr lang="fr-CD" smtClean="0"/>
              <a:t>24/04/2026</a:t>
            </a:fld>
            <a:endParaRPr lang="fr-C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70BAF-0A34-466B-BDFF-5F8D000E86C8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585392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F90F-6492-4030-9D7F-EA456862A47B}" type="datetimeFigureOut">
              <a:rPr lang="fr-CD" smtClean="0"/>
              <a:t>24/04/2026</a:t>
            </a:fld>
            <a:endParaRPr lang="fr-C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70BAF-0A34-466B-BDFF-5F8D000E86C8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60544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F90F-6492-4030-9D7F-EA456862A47B}" type="datetimeFigureOut">
              <a:rPr lang="fr-CD" smtClean="0"/>
              <a:t>24/04/2026</a:t>
            </a:fld>
            <a:endParaRPr lang="fr-C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70BAF-0A34-466B-BDFF-5F8D000E86C8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701173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F90F-6492-4030-9D7F-EA456862A47B}" type="datetimeFigureOut">
              <a:rPr lang="fr-CD" smtClean="0"/>
              <a:t>24/04/2026</a:t>
            </a:fld>
            <a:endParaRPr lang="fr-C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70BAF-0A34-466B-BDFF-5F8D000E86C8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57635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F90F-6492-4030-9D7F-EA456862A47B}" type="datetimeFigureOut">
              <a:rPr lang="fr-CD" smtClean="0"/>
              <a:t>24/04/2026</a:t>
            </a:fld>
            <a:endParaRPr lang="fr-C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70BAF-0A34-466B-BDFF-5F8D000E86C8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50655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F90F-6492-4030-9D7F-EA456862A47B}" type="datetimeFigureOut">
              <a:rPr lang="fr-CD" smtClean="0"/>
              <a:t>24/04/2026</a:t>
            </a:fld>
            <a:endParaRPr lang="fr-C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70BAF-0A34-466B-BDFF-5F8D000E86C8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4283058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F90F-6492-4030-9D7F-EA456862A47B}" type="datetimeFigureOut">
              <a:rPr lang="fr-CD" smtClean="0"/>
              <a:t>24/04/2026</a:t>
            </a:fld>
            <a:endParaRPr lang="fr-C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70BAF-0A34-466B-BDFF-5F8D000E86C8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002905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F90F-6492-4030-9D7F-EA456862A47B}" type="datetimeFigureOut">
              <a:rPr lang="fr-CD" smtClean="0"/>
              <a:t>24/04/2026</a:t>
            </a:fld>
            <a:endParaRPr lang="fr-C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70BAF-0A34-466B-BDFF-5F8D000E86C8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932121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F90F-6492-4030-9D7F-EA456862A47B}" type="datetimeFigureOut">
              <a:rPr lang="fr-CD" smtClean="0"/>
              <a:t>24/04/2026</a:t>
            </a:fld>
            <a:endParaRPr lang="fr-C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70BAF-0A34-466B-BDFF-5F8D000E86C8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494694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F90F-6492-4030-9D7F-EA456862A47B}" type="datetimeFigureOut">
              <a:rPr lang="fr-CD" smtClean="0"/>
              <a:t>24/04/2026</a:t>
            </a:fld>
            <a:endParaRPr lang="fr-C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70BAF-0A34-466B-BDFF-5F8D000E86C8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512749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F90F-6492-4030-9D7F-EA456862A47B}" type="datetimeFigureOut">
              <a:rPr lang="fr-CD" smtClean="0"/>
              <a:t>24/04/2026</a:t>
            </a:fld>
            <a:endParaRPr lang="fr-C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70BAF-0A34-466B-BDFF-5F8D000E86C8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4153601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F90F-6492-4030-9D7F-EA456862A47B}" type="datetimeFigureOut">
              <a:rPr lang="fr-CD" smtClean="0"/>
              <a:t>24/04/2026</a:t>
            </a:fld>
            <a:endParaRPr lang="fr-C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70BAF-0A34-466B-BDFF-5F8D000E86C8}" type="slidenum">
              <a:rPr lang="fr-CD" smtClean="0"/>
              <a:t>‹N°›</a:t>
            </a:fld>
            <a:endParaRPr lang="fr-CD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26141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F90F-6492-4030-9D7F-EA456862A47B}" type="datetimeFigureOut">
              <a:rPr lang="fr-CD" smtClean="0"/>
              <a:t>24/04/2026</a:t>
            </a:fld>
            <a:endParaRPr lang="fr-C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70BAF-0A34-466B-BDFF-5F8D000E86C8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638953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F90F-6492-4030-9D7F-EA456862A47B}" type="datetimeFigureOut">
              <a:rPr lang="fr-CD" smtClean="0"/>
              <a:t>24/04/2026</a:t>
            </a:fld>
            <a:endParaRPr lang="fr-C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70BAF-0A34-466B-BDFF-5F8D000E86C8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1805242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F90F-6492-4030-9D7F-EA456862A47B}" type="datetimeFigureOut">
              <a:rPr lang="fr-CD" smtClean="0"/>
              <a:t>24/04/2026</a:t>
            </a:fld>
            <a:endParaRPr lang="fr-C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70BAF-0A34-466B-BDFF-5F8D000E86C8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2814472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F90F-6492-4030-9D7F-EA456862A47B}" type="datetimeFigureOut">
              <a:rPr lang="fr-CD" smtClean="0"/>
              <a:t>24/04/2026</a:t>
            </a:fld>
            <a:endParaRPr lang="fr-C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70BAF-0A34-466B-BDFF-5F8D000E86C8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3004040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F90F-6492-4030-9D7F-EA456862A47B}" type="datetimeFigureOut">
              <a:rPr lang="fr-CD" smtClean="0"/>
              <a:t>24/04/2026</a:t>
            </a:fld>
            <a:endParaRPr lang="fr-C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70BAF-0A34-466B-BDFF-5F8D000E86C8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110177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6D9F90F-6492-4030-9D7F-EA456862A47B}" type="datetimeFigureOut">
              <a:rPr lang="fr-CD" smtClean="0"/>
              <a:t>24/04/2026</a:t>
            </a:fld>
            <a:endParaRPr lang="fr-C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fr-C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9D70BAF-0A34-466B-BDFF-5F8D000E86C8}" type="slidenum">
              <a:rPr lang="fr-CD" smtClean="0"/>
              <a:t>‹N°›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5337581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04312B-19B3-6549-1DE8-84C03B6FF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2516" y="609594"/>
            <a:ext cx="9863670" cy="3132058"/>
          </a:xfrm>
        </p:spPr>
        <p:txBody>
          <a:bodyPr>
            <a:normAutofit/>
          </a:bodyPr>
          <a:lstStyle/>
          <a:p>
            <a:r>
              <a:rPr lang="fr-FR" sz="4000" dirty="0">
                <a:latin typeface="Aptos" panose="020B0004020202020204" pitchFamily="34" charset="0"/>
              </a:rPr>
              <a:t>Mission de  Sauvetage de Soldes avec SQL: Cas du </a:t>
            </a:r>
            <a:r>
              <a:rPr lang="fr-CD" sz="4000" dirty="0">
                <a:effectLst/>
                <a:latin typeface="Aptos" panose="020B0004020202020204" pitchFamily="34" charset="0"/>
              </a:rPr>
              <a:t>magasin de sport Run &amp; Win</a:t>
            </a:r>
            <a:br>
              <a:rPr lang="fr-CD" dirty="0">
                <a:effectLst/>
                <a:latin typeface="Agency FB" panose="020B0503020202020204" pitchFamily="34" charset="0"/>
              </a:rPr>
            </a:br>
            <a:endParaRPr lang="fr-CD" dirty="0">
              <a:latin typeface="Agency FB" panose="020B0503020202020204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1CB36E8-8E89-7FF7-E732-9EEF7C845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970099" y="5198539"/>
            <a:ext cx="9440034" cy="1049867"/>
          </a:xfrm>
        </p:spPr>
        <p:txBody>
          <a:bodyPr/>
          <a:lstStyle/>
          <a:p>
            <a:r>
              <a:rPr lang="fr-FR" dirty="0">
                <a:latin typeface="Aptos" panose="020B0004020202020204" pitchFamily="34" charset="0"/>
              </a:rPr>
              <a:t>Présenté par : Maria AMULANI</a:t>
            </a:r>
            <a:endParaRPr lang="fr-CD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263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74B4B6-6C36-4E65-D005-6AB362E7C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403" y="621475"/>
            <a:ext cx="4261520" cy="970450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Aptos" panose="020B0004020202020204" pitchFamily="34" charset="0"/>
              </a:rPr>
              <a:t>Contexte Générale</a:t>
            </a:r>
            <a:endParaRPr lang="fr-CD" dirty="0">
              <a:latin typeface="Aptos" panose="020B000402020202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4BB589-B899-24E2-8C31-5150BE77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659" y="1791825"/>
            <a:ext cx="10353762" cy="2047699"/>
          </a:xfrm>
        </p:spPr>
        <p:txBody>
          <a:bodyPr>
            <a:normAutofit fontScale="92500"/>
          </a:bodyPr>
          <a:lstStyle/>
          <a:p>
            <a:pPr marL="36900" indent="0" algn="just">
              <a:lnSpc>
                <a:spcPct val="200000"/>
              </a:lnSpc>
              <a:buNone/>
            </a:pPr>
            <a:r>
              <a:rPr lang="fr-FR" sz="2400" dirty="0">
                <a:latin typeface="Aptos" panose="020B0004020202020204" pitchFamily="34" charset="0"/>
              </a:rPr>
              <a:t>Run &amp; Win fait face à une crise de gestion : données dispersées, décisions impossibles. Notre mission ici est de transformer ce chaos en informations claires grâce à SQL. </a:t>
            </a:r>
            <a:endParaRPr lang="fr-CD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007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AE4D19-076A-5DA4-844D-1FB3758BB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23874"/>
            <a:ext cx="10353762" cy="970450"/>
          </a:xfrm>
        </p:spPr>
        <p:txBody>
          <a:bodyPr/>
          <a:lstStyle/>
          <a:p>
            <a:pPr algn="l"/>
            <a:r>
              <a:rPr lang="fr-CD" dirty="0">
                <a:latin typeface="Aptos" panose="020B0004020202020204" pitchFamily="34" charset="0"/>
              </a:rPr>
              <a:t>1. Ciblage Tennis Premium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FB2BD3-A2E8-7DA3-13B1-41C895809A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fr-FR" i="1" dirty="0">
                <a:latin typeface="Aptos" panose="020B0004020202020204" pitchFamily="34" charset="0"/>
              </a:rPr>
              <a:t>Cette requête identifie les articles de Tennis de plus de 100€. Elle illustre l’usage de </a:t>
            </a:r>
            <a:r>
              <a:rPr lang="fr-FR" dirty="0">
                <a:latin typeface="Aptos" panose="020B0004020202020204" pitchFamily="34" charset="0"/>
              </a:rPr>
              <a:t>SELECT</a:t>
            </a:r>
            <a:r>
              <a:rPr lang="fr-FR" i="1" dirty="0">
                <a:latin typeface="Aptos" panose="020B0004020202020204" pitchFamily="34" charset="0"/>
              </a:rPr>
              <a:t> ciblé et du filtre </a:t>
            </a:r>
            <a:r>
              <a:rPr lang="fr-FR" dirty="0">
                <a:latin typeface="Aptos" panose="020B0004020202020204" pitchFamily="34" charset="0"/>
              </a:rPr>
              <a:t>WHERE</a:t>
            </a:r>
            <a:r>
              <a:rPr lang="fr-FR" i="1" dirty="0">
                <a:latin typeface="Aptos" panose="020B0004020202020204" pitchFamily="34" charset="0"/>
              </a:rPr>
              <a:t> pour préparer une campagne marketing précise</a:t>
            </a:r>
            <a:endParaRPr lang="fr-CD" dirty="0">
              <a:latin typeface="Aptos" panose="020B00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5E6340C-0559-DD62-BD17-F4FEFE8E4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08" y="2806378"/>
            <a:ext cx="6527843" cy="315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203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664B0C-F385-4D47-6AC7-87DADA3DB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CD" dirty="0">
                <a:latin typeface="Aptos" panose="020B0004020202020204" pitchFamily="34" charset="0"/>
              </a:rPr>
              <a:t>2. Déstockage "Rando"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3F472B-4B85-FCED-4075-F6F96AA5D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544780" cy="4058751"/>
          </a:xfrm>
        </p:spPr>
        <p:txBody>
          <a:bodyPr/>
          <a:lstStyle/>
          <a:p>
            <a:pPr marL="36900" indent="0" algn="just">
              <a:buNone/>
            </a:pPr>
            <a:r>
              <a:rPr lang="fr-FR" i="1" dirty="0">
                <a:latin typeface="Aptos" panose="020B0004020202020204" pitchFamily="34" charset="0"/>
              </a:rPr>
              <a:t>Ici, nous repérons les chaussures ‘Rando’ avec un stock inférieur à 5. L’opérateur </a:t>
            </a:r>
            <a:r>
              <a:rPr lang="fr-FR" dirty="0">
                <a:latin typeface="Aptos" panose="020B0004020202020204" pitchFamily="34" charset="0"/>
              </a:rPr>
              <a:t>LIKE</a:t>
            </a:r>
            <a:r>
              <a:rPr lang="fr-FR" i="1" dirty="0">
                <a:latin typeface="Aptos" panose="020B0004020202020204" pitchFamily="34" charset="0"/>
              </a:rPr>
              <a:t> et la condition </a:t>
            </a:r>
            <a:r>
              <a:rPr lang="fr-FR" dirty="0">
                <a:latin typeface="Aptos" panose="020B0004020202020204" pitchFamily="34" charset="0"/>
              </a:rPr>
              <a:t>&lt;</a:t>
            </a:r>
            <a:r>
              <a:rPr lang="fr-FR" i="1" dirty="0">
                <a:latin typeface="Aptos" panose="020B0004020202020204" pitchFamily="34" charset="0"/>
              </a:rPr>
              <a:t> permettent de cibler les produits critiques pour le déstockage.</a:t>
            </a:r>
            <a:endParaRPr lang="fr-CD" dirty="0">
              <a:latin typeface="Aptos" panose="020B00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3D1342D-F9A6-766A-E3EF-6A99856AE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96" y="2985536"/>
            <a:ext cx="6017804" cy="295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633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D4EC09-FF95-1C89-18A8-E707466CE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dirty="0">
                <a:latin typeface="Aptos" panose="020B0004020202020204" pitchFamily="34" charset="0"/>
              </a:rPr>
              <a:t>3. Filtrage des Villes Prioritaires</a:t>
            </a:r>
            <a:endParaRPr lang="fr-CD" dirty="0">
              <a:latin typeface="Aptos" panose="020B000402020202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7402A1-FCBF-90AE-66BF-D8A4C97AA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063" y="1399624"/>
            <a:ext cx="11127784" cy="4058751"/>
          </a:xfrm>
        </p:spPr>
        <p:txBody>
          <a:bodyPr/>
          <a:lstStyle/>
          <a:p>
            <a:pPr marL="36900" indent="0">
              <a:lnSpc>
                <a:spcPct val="150000"/>
              </a:lnSpc>
              <a:buNone/>
            </a:pPr>
            <a:r>
              <a:rPr lang="fr-FR" i="1" dirty="0">
                <a:latin typeface="Aptos" panose="020B0004020202020204" pitchFamily="34" charset="0"/>
              </a:rPr>
              <a:t>montre comment SQL gère des conditions multiples pour un ciblage géographique. La requête extrait les clients de Bukavu et Matadi. L’utilisation de </a:t>
            </a:r>
            <a:r>
              <a:rPr lang="fr-FR" dirty="0">
                <a:latin typeface="Aptos" panose="020B0004020202020204" pitchFamily="34" charset="0"/>
              </a:rPr>
              <a:t>OR</a:t>
            </a:r>
            <a:r>
              <a:rPr lang="fr-FR" i="1" dirty="0">
                <a:latin typeface="Aptos" panose="020B0004020202020204" pitchFamily="34" charset="0"/>
              </a:rPr>
              <a:t> ou </a:t>
            </a:r>
            <a:r>
              <a:rPr lang="fr-FR" dirty="0">
                <a:latin typeface="Aptos" panose="020B0004020202020204" pitchFamily="34" charset="0"/>
              </a:rPr>
              <a:t>IN</a:t>
            </a:r>
            <a:r>
              <a:rPr lang="fr-FR" i="1" dirty="0">
                <a:latin typeface="Aptos" panose="020B0004020202020204" pitchFamily="34" charset="0"/>
              </a:rPr>
              <a:t> </a:t>
            </a:r>
            <a:endParaRPr lang="fr-CD" dirty="0">
              <a:latin typeface="Aptos" panose="020B00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2C30690-55F8-0A81-F4A6-8FE17096E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63" y="2454864"/>
            <a:ext cx="4497606" cy="405875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620D5FF-4762-F527-FBBD-1CB2D39A7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955" y="2475645"/>
            <a:ext cx="4834176" cy="22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423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4CEC5F-C798-7655-4EE0-DF2916EAE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CD" dirty="0">
                <a:latin typeface="Aptos" panose="020B0004020202020204" pitchFamily="34" charset="0"/>
              </a:rPr>
              <a:t>4. Traque des Anciens Articles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983C19-2294-8C24-2962-F58B934D8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80050"/>
            <a:ext cx="10353762" cy="4058751"/>
          </a:xfrm>
        </p:spPr>
        <p:txBody>
          <a:bodyPr/>
          <a:lstStyle/>
          <a:p>
            <a:pPr marL="36900" indent="0">
              <a:buNone/>
            </a:pPr>
            <a:r>
              <a:rPr lang="fr-FR" i="1" dirty="0">
                <a:latin typeface="Aptos" panose="020B0004020202020204" pitchFamily="34" charset="0"/>
              </a:rPr>
              <a:t>Les articles de combat entre 20€ et 50€ sont isolés grâce à </a:t>
            </a:r>
            <a:r>
              <a:rPr lang="fr-FR" dirty="0">
                <a:latin typeface="Aptos" panose="020B0004020202020204" pitchFamily="34" charset="0"/>
              </a:rPr>
              <a:t>BETWEEN</a:t>
            </a:r>
            <a:r>
              <a:rPr lang="fr-FR" i="1" dirty="0">
                <a:latin typeface="Aptos" panose="020B0004020202020204" pitchFamily="34" charset="0"/>
              </a:rPr>
              <a:t>. Cette logique permet d’appliquer des remises ciblées sur une fourchette de prix.</a:t>
            </a:r>
            <a:endParaRPr lang="fr-CD" dirty="0">
              <a:latin typeface="Aptos" panose="020B00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F29EE08-6D37-7F35-8578-3570D6B79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282" y="2351314"/>
            <a:ext cx="4606260" cy="427336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353A01F-9811-BFDA-7BC6-FE71140D2E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859" y="2712982"/>
            <a:ext cx="4400859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223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6E224E-5DF1-AA3B-BDB8-E9EDB9AF8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81575"/>
            <a:ext cx="10353762" cy="970450"/>
          </a:xfrm>
        </p:spPr>
        <p:txBody>
          <a:bodyPr/>
          <a:lstStyle/>
          <a:p>
            <a:pPr algn="l"/>
            <a:r>
              <a:rPr lang="fr-FR" dirty="0">
                <a:latin typeface="Aptos" panose="020B0004020202020204" pitchFamily="34" charset="0"/>
              </a:rPr>
              <a:t>5. Casse-tête des Inactifs de Lubumbashi</a:t>
            </a:r>
            <a:endParaRPr lang="fr-CD" dirty="0">
              <a:latin typeface="Aptos" panose="020B000402020202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36A697-B75D-8777-4B41-F14B4DFC6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fr-FR" i="1" dirty="0">
                <a:latin typeface="Aptos" panose="020B0004020202020204" pitchFamily="34" charset="0"/>
              </a:rPr>
              <a:t>Nous filtrons les clients de Lubumbashi inscrits avant 2025. La combinaison de critères (</a:t>
            </a:r>
            <a:r>
              <a:rPr lang="fr-FR" dirty="0">
                <a:latin typeface="Aptos" panose="020B0004020202020204" pitchFamily="34" charset="0"/>
              </a:rPr>
              <a:t>AND</a:t>
            </a:r>
            <a:r>
              <a:rPr lang="fr-FR" i="1" dirty="0">
                <a:latin typeface="Aptos" panose="020B0004020202020204" pitchFamily="34" charset="0"/>
              </a:rPr>
              <a:t>) démontre la puissance de SQL pour croiser ville et date d’inscription.</a:t>
            </a:r>
            <a:endParaRPr lang="fr-CD" dirty="0">
              <a:latin typeface="Aptos" panose="020B00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A999618-605A-160F-10D8-9C52E0B8FB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51" y="2959389"/>
            <a:ext cx="5466275" cy="360285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3C4FF80-F888-6465-D324-401129A91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0181" y="2970820"/>
            <a:ext cx="5351814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377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7C4A9C-ACDC-AA94-9257-47E15684D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dirty="0">
                <a:latin typeface="Aptos" panose="020B0004020202020204" pitchFamily="34" charset="0"/>
              </a:rPr>
              <a:t>6. Conclusion</a:t>
            </a:r>
            <a:endParaRPr lang="fr-CD" dirty="0">
              <a:latin typeface="Aptos" panose="020B000402020202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7E3247-2111-7743-1975-E262BCDE6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lnSpc>
                <a:spcPct val="200000"/>
              </a:lnSpc>
              <a:buNone/>
            </a:pPr>
            <a:r>
              <a:rPr lang="fr-FR" dirty="0">
                <a:latin typeface="Aptos" panose="020B0004020202020204" pitchFamily="34" charset="0"/>
              </a:rPr>
              <a:t>Chaque requête SQL transforme des données brutes en décisions stratégiques. Grâce à ce travail, Run &amp; Win peut cibler ses clients, optimiser ses stocks et sauver ses soldes</a:t>
            </a:r>
            <a:r>
              <a:rPr lang="fr-FR" dirty="0"/>
              <a:t>. </a:t>
            </a:r>
            <a:endParaRPr lang="fr-CD" dirty="0"/>
          </a:p>
        </p:txBody>
      </p:sp>
    </p:spTree>
    <p:extLst>
      <p:ext uri="{BB962C8B-B14F-4D97-AF65-F5344CB8AC3E}">
        <p14:creationId xmlns:p14="http://schemas.microsoft.com/office/powerpoint/2010/main" val="40049673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oise">
  <a:themeElements>
    <a:clrScheme name="Ardois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ois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ois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Ardoise</Template>
  <TotalTime>61</TotalTime>
  <Words>267</Words>
  <Application>Microsoft Office PowerPoint</Application>
  <PresentationFormat>Grand écran</PresentationFormat>
  <Paragraphs>16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Agency FB</vt:lpstr>
      <vt:lpstr>Aptos</vt:lpstr>
      <vt:lpstr>Calisto MT</vt:lpstr>
      <vt:lpstr>Wingdings 2</vt:lpstr>
      <vt:lpstr>Ardoise</vt:lpstr>
      <vt:lpstr>Mission de  Sauvetage de Soldes avec SQL: Cas du magasin de sport Run &amp; Win </vt:lpstr>
      <vt:lpstr>Contexte Générale</vt:lpstr>
      <vt:lpstr>1. Ciblage Tennis Premium</vt:lpstr>
      <vt:lpstr>2. Déstockage "Rando"</vt:lpstr>
      <vt:lpstr>3. Filtrage des Villes Prioritaires</vt:lpstr>
      <vt:lpstr>4. Traque des Anciens Articles</vt:lpstr>
      <vt:lpstr>5. Casse-tête des Inactifs de Lubumbashi</vt:lpstr>
      <vt:lpstr>6.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Amulani</dc:creator>
  <cp:lastModifiedBy>Maria Amulani</cp:lastModifiedBy>
  <cp:revision>1</cp:revision>
  <dcterms:created xsi:type="dcterms:W3CDTF">2026-04-24T00:15:15Z</dcterms:created>
  <dcterms:modified xsi:type="dcterms:W3CDTF">2026-04-24T01:16:38Z</dcterms:modified>
</cp:coreProperties>
</file>